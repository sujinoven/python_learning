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2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0B95B7-B98D-49DE-9C01-0B65FAC81D9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0922DF-B21C-430D-B736-679D2C07F96B}">
      <dgm:prSet/>
      <dgm:spPr/>
      <dgm:t>
        <a:bodyPr/>
        <a:lstStyle/>
        <a:p>
          <a:r>
            <a:rPr lang="en-US" b="1"/>
            <a:t>Business Questions:</a:t>
          </a:r>
          <a:endParaRPr lang="en-US"/>
        </a:p>
      </dgm:t>
    </dgm:pt>
    <dgm:pt modelId="{736CA507-3AC8-4122-B697-D9914DE2D260}" type="parTrans" cxnId="{0035BCEA-EB75-4DB0-B282-A0A96FE9632D}">
      <dgm:prSet/>
      <dgm:spPr/>
      <dgm:t>
        <a:bodyPr/>
        <a:lstStyle/>
        <a:p>
          <a:endParaRPr lang="en-US"/>
        </a:p>
      </dgm:t>
    </dgm:pt>
    <dgm:pt modelId="{9A4BA1C5-4402-45DF-963C-A8FEE8E8183A}" type="sibTrans" cxnId="{0035BCEA-EB75-4DB0-B282-A0A96FE9632D}">
      <dgm:prSet/>
      <dgm:spPr/>
      <dgm:t>
        <a:bodyPr/>
        <a:lstStyle/>
        <a:p>
          <a:endParaRPr lang="en-US"/>
        </a:p>
      </dgm:t>
    </dgm:pt>
    <dgm:pt modelId="{4B9B4E48-12F1-40E5-91D0-90ADF0090031}">
      <dgm:prSet/>
      <dgm:spPr/>
      <dgm:t>
        <a:bodyPr/>
        <a:lstStyle/>
        <a:p>
          <a:r>
            <a:rPr lang="en-US"/>
            <a:t>1.Which Category Generates the Highest Sales?</a:t>
          </a:r>
        </a:p>
      </dgm:t>
    </dgm:pt>
    <dgm:pt modelId="{8B1F8010-FD97-43B4-8075-0D01D72B175A}" type="parTrans" cxnId="{374717DD-697A-4BEC-976C-89B9F4A26191}">
      <dgm:prSet/>
      <dgm:spPr/>
      <dgm:t>
        <a:bodyPr/>
        <a:lstStyle/>
        <a:p>
          <a:endParaRPr lang="en-US"/>
        </a:p>
      </dgm:t>
    </dgm:pt>
    <dgm:pt modelId="{FB3E35BF-D3B6-43CE-82FC-FF07F0A88D0E}" type="sibTrans" cxnId="{374717DD-697A-4BEC-976C-89B9F4A26191}">
      <dgm:prSet/>
      <dgm:spPr/>
      <dgm:t>
        <a:bodyPr/>
        <a:lstStyle/>
        <a:p>
          <a:endParaRPr lang="en-US"/>
        </a:p>
      </dgm:t>
    </dgm:pt>
    <dgm:pt modelId="{E122DE37-DB33-4797-8994-E259AD6A388D}">
      <dgm:prSet/>
      <dgm:spPr/>
      <dgm:t>
        <a:bodyPr/>
        <a:lstStyle/>
        <a:p>
          <a:r>
            <a:rPr lang="en-US"/>
            <a:t>2.Which categories are profitable?</a:t>
          </a:r>
        </a:p>
      </dgm:t>
    </dgm:pt>
    <dgm:pt modelId="{5CA9F174-A012-4DF8-9765-21ADAF7F5280}" type="parTrans" cxnId="{5E5E2E8C-EE8C-4DD9-8DA2-22436D6B34D6}">
      <dgm:prSet/>
      <dgm:spPr/>
      <dgm:t>
        <a:bodyPr/>
        <a:lstStyle/>
        <a:p>
          <a:endParaRPr lang="en-US"/>
        </a:p>
      </dgm:t>
    </dgm:pt>
    <dgm:pt modelId="{206AD03D-3EBD-4947-966B-ED22A1E7D8F1}" type="sibTrans" cxnId="{5E5E2E8C-EE8C-4DD9-8DA2-22436D6B34D6}">
      <dgm:prSet/>
      <dgm:spPr/>
      <dgm:t>
        <a:bodyPr/>
        <a:lstStyle/>
        <a:p>
          <a:endParaRPr lang="en-US"/>
        </a:p>
      </dgm:t>
    </dgm:pt>
    <dgm:pt modelId="{F48C28C1-F660-4827-B5C6-703EC6C7F7C7}">
      <dgm:prSet/>
      <dgm:spPr/>
      <dgm:t>
        <a:bodyPr/>
        <a:lstStyle/>
        <a:p>
          <a:r>
            <a:rPr lang="en-US"/>
            <a:t>3.Which regions generate maximum revenue?</a:t>
          </a:r>
        </a:p>
      </dgm:t>
    </dgm:pt>
    <dgm:pt modelId="{9A409A69-634F-465A-B719-57789FE1D383}" type="parTrans" cxnId="{DFF816E4-04E1-47F0-9480-D1F1D66ADAAA}">
      <dgm:prSet/>
      <dgm:spPr/>
      <dgm:t>
        <a:bodyPr/>
        <a:lstStyle/>
        <a:p>
          <a:endParaRPr lang="en-US"/>
        </a:p>
      </dgm:t>
    </dgm:pt>
    <dgm:pt modelId="{975C9B00-82E3-4E7B-A39B-993466D89527}" type="sibTrans" cxnId="{DFF816E4-04E1-47F0-9480-D1F1D66ADAAA}">
      <dgm:prSet/>
      <dgm:spPr/>
      <dgm:t>
        <a:bodyPr/>
        <a:lstStyle/>
        <a:p>
          <a:endParaRPr lang="en-US"/>
        </a:p>
      </dgm:t>
    </dgm:pt>
    <dgm:pt modelId="{8FB22C8A-ED88-4BCB-B2B6-6F778ADDCCBA}">
      <dgm:prSet/>
      <dgm:spPr/>
      <dgm:t>
        <a:bodyPr/>
        <a:lstStyle/>
        <a:p>
          <a:r>
            <a:rPr lang="en-US"/>
            <a:t>4.Top 10 States by Sales</a:t>
          </a:r>
        </a:p>
      </dgm:t>
    </dgm:pt>
    <dgm:pt modelId="{8E9F641E-03EA-472D-A839-796039DA0149}" type="parTrans" cxnId="{BB8259EF-1067-40F6-870B-2FE45B4337B0}">
      <dgm:prSet/>
      <dgm:spPr/>
      <dgm:t>
        <a:bodyPr/>
        <a:lstStyle/>
        <a:p>
          <a:endParaRPr lang="en-US"/>
        </a:p>
      </dgm:t>
    </dgm:pt>
    <dgm:pt modelId="{2E449A0B-0A4F-4997-8608-D08AB929C719}" type="sibTrans" cxnId="{BB8259EF-1067-40F6-870B-2FE45B4337B0}">
      <dgm:prSet/>
      <dgm:spPr/>
      <dgm:t>
        <a:bodyPr/>
        <a:lstStyle/>
        <a:p>
          <a:endParaRPr lang="en-US"/>
        </a:p>
      </dgm:t>
    </dgm:pt>
    <dgm:pt modelId="{E88104B6-B6A0-47C9-A23D-C46D0978B1CD}">
      <dgm:prSet/>
      <dgm:spPr/>
      <dgm:t>
        <a:bodyPr/>
        <a:lstStyle/>
        <a:p>
          <a:r>
            <a:rPr lang="en-US"/>
            <a:t>5.Which Customer Segment Generates Maximum Revenue?</a:t>
          </a:r>
        </a:p>
      </dgm:t>
    </dgm:pt>
    <dgm:pt modelId="{61A1C14D-4D07-4EA0-ADDD-D29950D9FB9D}" type="parTrans" cxnId="{5319EB8C-7673-424B-B148-15A94E001FEF}">
      <dgm:prSet/>
      <dgm:spPr/>
      <dgm:t>
        <a:bodyPr/>
        <a:lstStyle/>
        <a:p>
          <a:endParaRPr lang="en-US"/>
        </a:p>
      </dgm:t>
    </dgm:pt>
    <dgm:pt modelId="{5E6EEF36-9147-48D5-96FF-5B932D58936B}" type="sibTrans" cxnId="{5319EB8C-7673-424B-B148-15A94E001FEF}">
      <dgm:prSet/>
      <dgm:spPr/>
      <dgm:t>
        <a:bodyPr/>
        <a:lstStyle/>
        <a:p>
          <a:endParaRPr lang="en-US"/>
        </a:p>
      </dgm:t>
    </dgm:pt>
    <dgm:pt modelId="{F2BB6A48-1D96-444B-BE73-D802203AB91C}">
      <dgm:prSet/>
      <dgm:spPr/>
      <dgm:t>
        <a:bodyPr/>
        <a:lstStyle/>
        <a:p>
          <a:r>
            <a:rPr lang="en-US"/>
            <a:t>6.Top 10 Products by Sales</a:t>
          </a:r>
        </a:p>
      </dgm:t>
    </dgm:pt>
    <dgm:pt modelId="{6F3E2848-37D8-46EB-AB36-160935BE6DA7}" type="parTrans" cxnId="{FC598545-E666-4765-AAB7-3A5FAA56DA6E}">
      <dgm:prSet/>
      <dgm:spPr/>
      <dgm:t>
        <a:bodyPr/>
        <a:lstStyle/>
        <a:p>
          <a:endParaRPr lang="en-US"/>
        </a:p>
      </dgm:t>
    </dgm:pt>
    <dgm:pt modelId="{32650511-C606-4908-B926-6CA2F7701B04}" type="sibTrans" cxnId="{FC598545-E666-4765-AAB7-3A5FAA56DA6E}">
      <dgm:prSet/>
      <dgm:spPr/>
      <dgm:t>
        <a:bodyPr/>
        <a:lstStyle/>
        <a:p>
          <a:endParaRPr lang="en-US"/>
        </a:p>
      </dgm:t>
    </dgm:pt>
    <dgm:pt modelId="{1ADC3807-BD48-4D32-A0E0-71DB5B2CC8F6}">
      <dgm:prSet/>
      <dgm:spPr/>
      <dgm:t>
        <a:bodyPr/>
        <a:lstStyle/>
        <a:p>
          <a:r>
            <a:rPr lang="en-US" dirty="0"/>
            <a:t>7.Key Insight</a:t>
          </a:r>
        </a:p>
      </dgm:t>
    </dgm:pt>
    <dgm:pt modelId="{72A736FF-A2C9-43B7-81E5-7DB9B23E8296}" type="parTrans" cxnId="{CE0B29B0-5BF1-4C90-8C66-16ABA7FA6CA2}">
      <dgm:prSet/>
      <dgm:spPr/>
      <dgm:t>
        <a:bodyPr/>
        <a:lstStyle/>
        <a:p>
          <a:endParaRPr lang="en-US"/>
        </a:p>
      </dgm:t>
    </dgm:pt>
    <dgm:pt modelId="{E85CC23F-98E5-4B44-AC74-0BDB554FB0D0}" type="sibTrans" cxnId="{CE0B29B0-5BF1-4C90-8C66-16ABA7FA6CA2}">
      <dgm:prSet/>
      <dgm:spPr/>
      <dgm:t>
        <a:bodyPr/>
        <a:lstStyle/>
        <a:p>
          <a:endParaRPr lang="en-US"/>
        </a:p>
      </dgm:t>
    </dgm:pt>
    <dgm:pt modelId="{44162580-C401-4B14-9ABB-1FFE1835B4AD}" type="pres">
      <dgm:prSet presAssocID="{560B95B7-B98D-49DE-9C01-0B65FAC81D9D}" presName="diagram" presStyleCnt="0">
        <dgm:presLayoutVars>
          <dgm:dir/>
          <dgm:resizeHandles val="exact"/>
        </dgm:presLayoutVars>
      </dgm:prSet>
      <dgm:spPr/>
    </dgm:pt>
    <dgm:pt modelId="{8983C62C-D3EE-4608-B4A3-E24C33B711C8}" type="pres">
      <dgm:prSet presAssocID="{1E0922DF-B21C-430D-B736-679D2C07F96B}" presName="node" presStyleLbl="node1" presStyleIdx="0" presStyleCnt="8">
        <dgm:presLayoutVars>
          <dgm:bulletEnabled val="1"/>
        </dgm:presLayoutVars>
      </dgm:prSet>
      <dgm:spPr/>
    </dgm:pt>
    <dgm:pt modelId="{08C3E8F1-BE45-4C1F-A467-32AF03C5BF25}" type="pres">
      <dgm:prSet presAssocID="{9A4BA1C5-4402-45DF-963C-A8FEE8E8183A}" presName="sibTrans" presStyleCnt="0"/>
      <dgm:spPr/>
    </dgm:pt>
    <dgm:pt modelId="{4E1C2208-E1FF-43B2-A816-0A4021E54C39}" type="pres">
      <dgm:prSet presAssocID="{4B9B4E48-12F1-40E5-91D0-90ADF0090031}" presName="node" presStyleLbl="node1" presStyleIdx="1" presStyleCnt="8">
        <dgm:presLayoutVars>
          <dgm:bulletEnabled val="1"/>
        </dgm:presLayoutVars>
      </dgm:prSet>
      <dgm:spPr/>
    </dgm:pt>
    <dgm:pt modelId="{72C9A207-CFD7-4016-8F2F-B6EC39B50ED8}" type="pres">
      <dgm:prSet presAssocID="{FB3E35BF-D3B6-43CE-82FC-FF07F0A88D0E}" presName="sibTrans" presStyleCnt="0"/>
      <dgm:spPr/>
    </dgm:pt>
    <dgm:pt modelId="{03FAD584-00EF-48D5-B8C9-8465AF9A58B7}" type="pres">
      <dgm:prSet presAssocID="{E122DE37-DB33-4797-8994-E259AD6A388D}" presName="node" presStyleLbl="node1" presStyleIdx="2" presStyleCnt="8">
        <dgm:presLayoutVars>
          <dgm:bulletEnabled val="1"/>
        </dgm:presLayoutVars>
      </dgm:prSet>
      <dgm:spPr/>
    </dgm:pt>
    <dgm:pt modelId="{2711525D-7862-45FC-B58C-8F00F04ACB1D}" type="pres">
      <dgm:prSet presAssocID="{206AD03D-3EBD-4947-966B-ED22A1E7D8F1}" presName="sibTrans" presStyleCnt="0"/>
      <dgm:spPr/>
    </dgm:pt>
    <dgm:pt modelId="{CFB3DE86-3242-4F7E-A28D-E5293475D7B7}" type="pres">
      <dgm:prSet presAssocID="{F48C28C1-F660-4827-B5C6-703EC6C7F7C7}" presName="node" presStyleLbl="node1" presStyleIdx="3" presStyleCnt="8">
        <dgm:presLayoutVars>
          <dgm:bulletEnabled val="1"/>
        </dgm:presLayoutVars>
      </dgm:prSet>
      <dgm:spPr/>
    </dgm:pt>
    <dgm:pt modelId="{21A8DF97-1E62-4157-9379-E49C95C20C54}" type="pres">
      <dgm:prSet presAssocID="{975C9B00-82E3-4E7B-A39B-993466D89527}" presName="sibTrans" presStyleCnt="0"/>
      <dgm:spPr/>
    </dgm:pt>
    <dgm:pt modelId="{4E3E5314-A606-42CE-AA81-93718FE347D6}" type="pres">
      <dgm:prSet presAssocID="{8FB22C8A-ED88-4BCB-B2B6-6F778ADDCCBA}" presName="node" presStyleLbl="node1" presStyleIdx="4" presStyleCnt="8">
        <dgm:presLayoutVars>
          <dgm:bulletEnabled val="1"/>
        </dgm:presLayoutVars>
      </dgm:prSet>
      <dgm:spPr/>
    </dgm:pt>
    <dgm:pt modelId="{10BFBC55-86C5-484E-978B-70CF6A275B0A}" type="pres">
      <dgm:prSet presAssocID="{2E449A0B-0A4F-4997-8608-D08AB929C719}" presName="sibTrans" presStyleCnt="0"/>
      <dgm:spPr/>
    </dgm:pt>
    <dgm:pt modelId="{870C3C59-9150-426F-9D7A-82179AD5D5CB}" type="pres">
      <dgm:prSet presAssocID="{E88104B6-B6A0-47C9-A23D-C46D0978B1CD}" presName="node" presStyleLbl="node1" presStyleIdx="5" presStyleCnt="8">
        <dgm:presLayoutVars>
          <dgm:bulletEnabled val="1"/>
        </dgm:presLayoutVars>
      </dgm:prSet>
      <dgm:spPr/>
    </dgm:pt>
    <dgm:pt modelId="{6830558B-4B3C-4516-91DC-3821A5DAB9B7}" type="pres">
      <dgm:prSet presAssocID="{5E6EEF36-9147-48D5-96FF-5B932D58936B}" presName="sibTrans" presStyleCnt="0"/>
      <dgm:spPr/>
    </dgm:pt>
    <dgm:pt modelId="{091F83EF-81A3-4175-BAE3-4420B61A0CC2}" type="pres">
      <dgm:prSet presAssocID="{F2BB6A48-1D96-444B-BE73-D802203AB91C}" presName="node" presStyleLbl="node1" presStyleIdx="6" presStyleCnt="8">
        <dgm:presLayoutVars>
          <dgm:bulletEnabled val="1"/>
        </dgm:presLayoutVars>
      </dgm:prSet>
      <dgm:spPr/>
    </dgm:pt>
    <dgm:pt modelId="{A8D9563E-6B1D-412A-A757-5102E0C468CE}" type="pres">
      <dgm:prSet presAssocID="{32650511-C606-4908-B926-6CA2F7701B04}" presName="sibTrans" presStyleCnt="0"/>
      <dgm:spPr/>
    </dgm:pt>
    <dgm:pt modelId="{011A46A0-95FC-492A-ACA6-F518F30296B9}" type="pres">
      <dgm:prSet presAssocID="{1ADC3807-BD48-4D32-A0E0-71DB5B2CC8F6}" presName="node" presStyleLbl="node1" presStyleIdx="7" presStyleCnt="8">
        <dgm:presLayoutVars>
          <dgm:bulletEnabled val="1"/>
        </dgm:presLayoutVars>
      </dgm:prSet>
      <dgm:spPr/>
    </dgm:pt>
  </dgm:ptLst>
  <dgm:cxnLst>
    <dgm:cxn modelId="{0298A70B-5AD0-426E-9574-1065C6EB9215}" type="presOf" srcId="{F2BB6A48-1D96-444B-BE73-D802203AB91C}" destId="{091F83EF-81A3-4175-BAE3-4420B61A0CC2}" srcOrd="0" destOrd="0" presId="urn:microsoft.com/office/officeart/2005/8/layout/default"/>
    <dgm:cxn modelId="{FC598545-E666-4765-AAB7-3A5FAA56DA6E}" srcId="{560B95B7-B98D-49DE-9C01-0B65FAC81D9D}" destId="{F2BB6A48-1D96-444B-BE73-D802203AB91C}" srcOrd="6" destOrd="0" parTransId="{6F3E2848-37D8-46EB-AB36-160935BE6DA7}" sibTransId="{32650511-C606-4908-B926-6CA2F7701B04}"/>
    <dgm:cxn modelId="{2A833F4C-C550-462C-8BA5-0B6591E27638}" type="presOf" srcId="{1ADC3807-BD48-4D32-A0E0-71DB5B2CC8F6}" destId="{011A46A0-95FC-492A-ACA6-F518F30296B9}" srcOrd="0" destOrd="0" presId="urn:microsoft.com/office/officeart/2005/8/layout/default"/>
    <dgm:cxn modelId="{41556854-3F1F-4DB4-BCDE-81C1FF372528}" type="presOf" srcId="{E88104B6-B6A0-47C9-A23D-C46D0978B1CD}" destId="{870C3C59-9150-426F-9D7A-82179AD5D5CB}" srcOrd="0" destOrd="0" presId="urn:microsoft.com/office/officeart/2005/8/layout/default"/>
    <dgm:cxn modelId="{D6E23056-419D-4BBD-97F5-EFB32C44DC1C}" type="presOf" srcId="{1E0922DF-B21C-430D-B736-679D2C07F96B}" destId="{8983C62C-D3EE-4608-B4A3-E24C33B711C8}" srcOrd="0" destOrd="0" presId="urn:microsoft.com/office/officeart/2005/8/layout/default"/>
    <dgm:cxn modelId="{3244EA5A-8BA8-442C-AE38-9E0C20710801}" type="presOf" srcId="{8FB22C8A-ED88-4BCB-B2B6-6F778ADDCCBA}" destId="{4E3E5314-A606-42CE-AA81-93718FE347D6}" srcOrd="0" destOrd="0" presId="urn:microsoft.com/office/officeart/2005/8/layout/default"/>
    <dgm:cxn modelId="{5E5E2E8C-EE8C-4DD9-8DA2-22436D6B34D6}" srcId="{560B95B7-B98D-49DE-9C01-0B65FAC81D9D}" destId="{E122DE37-DB33-4797-8994-E259AD6A388D}" srcOrd="2" destOrd="0" parTransId="{5CA9F174-A012-4DF8-9765-21ADAF7F5280}" sibTransId="{206AD03D-3EBD-4947-966B-ED22A1E7D8F1}"/>
    <dgm:cxn modelId="{5319EB8C-7673-424B-B148-15A94E001FEF}" srcId="{560B95B7-B98D-49DE-9C01-0B65FAC81D9D}" destId="{E88104B6-B6A0-47C9-A23D-C46D0978B1CD}" srcOrd="5" destOrd="0" parTransId="{61A1C14D-4D07-4EA0-ADDD-D29950D9FB9D}" sibTransId="{5E6EEF36-9147-48D5-96FF-5B932D58936B}"/>
    <dgm:cxn modelId="{87786791-05B9-4437-8ADF-A684618DEE36}" type="presOf" srcId="{4B9B4E48-12F1-40E5-91D0-90ADF0090031}" destId="{4E1C2208-E1FF-43B2-A816-0A4021E54C39}" srcOrd="0" destOrd="0" presId="urn:microsoft.com/office/officeart/2005/8/layout/default"/>
    <dgm:cxn modelId="{CE0B29B0-5BF1-4C90-8C66-16ABA7FA6CA2}" srcId="{560B95B7-B98D-49DE-9C01-0B65FAC81D9D}" destId="{1ADC3807-BD48-4D32-A0E0-71DB5B2CC8F6}" srcOrd="7" destOrd="0" parTransId="{72A736FF-A2C9-43B7-81E5-7DB9B23E8296}" sibTransId="{E85CC23F-98E5-4B44-AC74-0BDB554FB0D0}"/>
    <dgm:cxn modelId="{E36A2DB0-6D01-4420-B037-3A262E24EFE7}" type="presOf" srcId="{560B95B7-B98D-49DE-9C01-0B65FAC81D9D}" destId="{44162580-C401-4B14-9ABB-1FFE1835B4AD}" srcOrd="0" destOrd="0" presId="urn:microsoft.com/office/officeart/2005/8/layout/default"/>
    <dgm:cxn modelId="{6F796AB0-4257-4F84-A8DC-C6AB9AB774BC}" type="presOf" srcId="{F48C28C1-F660-4827-B5C6-703EC6C7F7C7}" destId="{CFB3DE86-3242-4F7E-A28D-E5293475D7B7}" srcOrd="0" destOrd="0" presId="urn:microsoft.com/office/officeart/2005/8/layout/default"/>
    <dgm:cxn modelId="{374717DD-697A-4BEC-976C-89B9F4A26191}" srcId="{560B95B7-B98D-49DE-9C01-0B65FAC81D9D}" destId="{4B9B4E48-12F1-40E5-91D0-90ADF0090031}" srcOrd="1" destOrd="0" parTransId="{8B1F8010-FD97-43B4-8075-0D01D72B175A}" sibTransId="{FB3E35BF-D3B6-43CE-82FC-FF07F0A88D0E}"/>
    <dgm:cxn modelId="{DFF816E4-04E1-47F0-9480-D1F1D66ADAAA}" srcId="{560B95B7-B98D-49DE-9C01-0B65FAC81D9D}" destId="{F48C28C1-F660-4827-B5C6-703EC6C7F7C7}" srcOrd="3" destOrd="0" parTransId="{9A409A69-634F-465A-B719-57789FE1D383}" sibTransId="{975C9B00-82E3-4E7B-A39B-993466D89527}"/>
    <dgm:cxn modelId="{9132A3E7-69BD-4095-BD98-3DF67174B001}" type="presOf" srcId="{E122DE37-DB33-4797-8994-E259AD6A388D}" destId="{03FAD584-00EF-48D5-B8C9-8465AF9A58B7}" srcOrd="0" destOrd="0" presId="urn:microsoft.com/office/officeart/2005/8/layout/default"/>
    <dgm:cxn modelId="{0035BCEA-EB75-4DB0-B282-A0A96FE9632D}" srcId="{560B95B7-B98D-49DE-9C01-0B65FAC81D9D}" destId="{1E0922DF-B21C-430D-B736-679D2C07F96B}" srcOrd="0" destOrd="0" parTransId="{736CA507-3AC8-4122-B697-D9914DE2D260}" sibTransId="{9A4BA1C5-4402-45DF-963C-A8FEE8E8183A}"/>
    <dgm:cxn modelId="{BB8259EF-1067-40F6-870B-2FE45B4337B0}" srcId="{560B95B7-B98D-49DE-9C01-0B65FAC81D9D}" destId="{8FB22C8A-ED88-4BCB-B2B6-6F778ADDCCBA}" srcOrd="4" destOrd="0" parTransId="{8E9F641E-03EA-472D-A839-796039DA0149}" sibTransId="{2E449A0B-0A4F-4997-8608-D08AB929C719}"/>
    <dgm:cxn modelId="{C37D1062-B08B-4DFB-994B-C6009606F320}" type="presParOf" srcId="{44162580-C401-4B14-9ABB-1FFE1835B4AD}" destId="{8983C62C-D3EE-4608-B4A3-E24C33B711C8}" srcOrd="0" destOrd="0" presId="urn:microsoft.com/office/officeart/2005/8/layout/default"/>
    <dgm:cxn modelId="{0F02C239-30BD-4DB1-A981-9987DC54C140}" type="presParOf" srcId="{44162580-C401-4B14-9ABB-1FFE1835B4AD}" destId="{08C3E8F1-BE45-4C1F-A467-32AF03C5BF25}" srcOrd="1" destOrd="0" presId="urn:microsoft.com/office/officeart/2005/8/layout/default"/>
    <dgm:cxn modelId="{1DB5F8D6-45EF-4A38-AA9E-ED31E27C0B1F}" type="presParOf" srcId="{44162580-C401-4B14-9ABB-1FFE1835B4AD}" destId="{4E1C2208-E1FF-43B2-A816-0A4021E54C39}" srcOrd="2" destOrd="0" presId="urn:microsoft.com/office/officeart/2005/8/layout/default"/>
    <dgm:cxn modelId="{7010C412-CB85-41DB-9E4D-95407E007EDE}" type="presParOf" srcId="{44162580-C401-4B14-9ABB-1FFE1835B4AD}" destId="{72C9A207-CFD7-4016-8F2F-B6EC39B50ED8}" srcOrd="3" destOrd="0" presId="urn:microsoft.com/office/officeart/2005/8/layout/default"/>
    <dgm:cxn modelId="{0C864B40-FCB9-417E-8BB8-0756F2FD609A}" type="presParOf" srcId="{44162580-C401-4B14-9ABB-1FFE1835B4AD}" destId="{03FAD584-00EF-48D5-B8C9-8465AF9A58B7}" srcOrd="4" destOrd="0" presId="urn:microsoft.com/office/officeart/2005/8/layout/default"/>
    <dgm:cxn modelId="{3E4FEFAA-8309-4DC4-B6F4-0BB766CF8768}" type="presParOf" srcId="{44162580-C401-4B14-9ABB-1FFE1835B4AD}" destId="{2711525D-7862-45FC-B58C-8F00F04ACB1D}" srcOrd="5" destOrd="0" presId="urn:microsoft.com/office/officeart/2005/8/layout/default"/>
    <dgm:cxn modelId="{A0CF6B2A-14C8-4508-8E7D-BA23540BE61C}" type="presParOf" srcId="{44162580-C401-4B14-9ABB-1FFE1835B4AD}" destId="{CFB3DE86-3242-4F7E-A28D-E5293475D7B7}" srcOrd="6" destOrd="0" presId="urn:microsoft.com/office/officeart/2005/8/layout/default"/>
    <dgm:cxn modelId="{6150A69D-DDDA-42CC-923E-A537E2E9B812}" type="presParOf" srcId="{44162580-C401-4B14-9ABB-1FFE1835B4AD}" destId="{21A8DF97-1E62-4157-9379-E49C95C20C54}" srcOrd="7" destOrd="0" presId="urn:microsoft.com/office/officeart/2005/8/layout/default"/>
    <dgm:cxn modelId="{1E058837-A929-407D-B05D-073092B556A5}" type="presParOf" srcId="{44162580-C401-4B14-9ABB-1FFE1835B4AD}" destId="{4E3E5314-A606-42CE-AA81-93718FE347D6}" srcOrd="8" destOrd="0" presId="urn:microsoft.com/office/officeart/2005/8/layout/default"/>
    <dgm:cxn modelId="{8E3C8A7A-60AA-43BA-A2A6-77AF8EC16856}" type="presParOf" srcId="{44162580-C401-4B14-9ABB-1FFE1835B4AD}" destId="{10BFBC55-86C5-484E-978B-70CF6A275B0A}" srcOrd="9" destOrd="0" presId="urn:microsoft.com/office/officeart/2005/8/layout/default"/>
    <dgm:cxn modelId="{E1C4730C-2CC0-47B6-AF0D-7ABFE8397750}" type="presParOf" srcId="{44162580-C401-4B14-9ABB-1FFE1835B4AD}" destId="{870C3C59-9150-426F-9D7A-82179AD5D5CB}" srcOrd="10" destOrd="0" presId="urn:microsoft.com/office/officeart/2005/8/layout/default"/>
    <dgm:cxn modelId="{B8D23B72-1E29-48A2-94B6-DEED83E5E755}" type="presParOf" srcId="{44162580-C401-4B14-9ABB-1FFE1835B4AD}" destId="{6830558B-4B3C-4516-91DC-3821A5DAB9B7}" srcOrd="11" destOrd="0" presId="urn:microsoft.com/office/officeart/2005/8/layout/default"/>
    <dgm:cxn modelId="{FC09D936-2A89-4025-BDC3-899DD66A522B}" type="presParOf" srcId="{44162580-C401-4B14-9ABB-1FFE1835B4AD}" destId="{091F83EF-81A3-4175-BAE3-4420B61A0CC2}" srcOrd="12" destOrd="0" presId="urn:microsoft.com/office/officeart/2005/8/layout/default"/>
    <dgm:cxn modelId="{13753058-A95A-4D64-AC5F-6F71DD18A48B}" type="presParOf" srcId="{44162580-C401-4B14-9ABB-1FFE1835B4AD}" destId="{A8D9563E-6B1D-412A-A757-5102E0C468CE}" srcOrd="13" destOrd="0" presId="urn:microsoft.com/office/officeart/2005/8/layout/default"/>
    <dgm:cxn modelId="{9610936E-5B1A-4DA0-BC55-3046F8F82009}" type="presParOf" srcId="{44162580-C401-4B14-9ABB-1FFE1835B4AD}" destId="{011A46A0-95FC-492A-ACA6-F518F30296B9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83C62C-D3EE-4608-B4A3-E24C33B711C8}">
      <dsp:nvSpPr>
        <dsp:cNvPr id="0" name=""/>
        <dsp:cNvSpPr/>
      </dsp:nvSpPr>
      <dsp:spPr>
        <a:xfrm>
          <a:off x="235391" y="647"/>
          <a:ext cx="1774638" cy="1064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Business Questions:</a:t>
          </a:r>
          <a:endParaRPr lang="en-US" sz="1600" kern="1200"/>
        </a:p>
      </dsp:txBody>
      <dsp:txXfrm>
        <a:off x="235391" y="647"/>
        <a:ext cx="1774638" cy="1064782"/>
      </dsp:txXfrm>
    </dsp:sp>
    <dsp:sp modelId="{4E1C2208-E1FF-43B2-A816-0A4021E54C39}">
      <dsp:nvSpPr>
        <dsp:cNvPr id="0" name=""/>
        <dsp:cNvSpPr/>
      </dsp:nvSpPr>
      <dsp:spPr>
        <a:xfrm>
          <a:off x="2187493" y="647"/>
          <a:ext cx="1774638" cy="1064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1.Which Category Generates the Highest Sales?</a:t>
          </a:r>
        </a:p>
      </dsp:txBody>
      <dsp:txXfrm>
        <a:off x="2187493" y="647"/>
        <a:ext cx="1774638" cy="1064782"/>
      </dsp:txXfrm>
    </dsp:sp>
    <dsp:sp modelId="{03FAD584-00EF-48D5-B8C9-8465AF9A58B7}">
      <dsp:nvSpPr>
        <dsp:cNvPr id="0" name=""/>
        <dsp:cNvSpPr/>
      </dsp:nvSpPr>
      <dsp:spPr>
        <a:xfrm>
          <a:off x="4139594" y="647"/>
          <a:ext cx="1774638" cy="1064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2.Which categories are profitable?</a:t>
          </a:r>
        </a:p>
      </dsp:txBody>
      <dsp:txXfrm>
        <a:off x="4139594" y="647"/>
        <a:ext cx="1774638" cy="1064782"/>
      </dsp:txXfrm>
    </dsp:sp>
    <dsp:sp modelId="{CFB3DE86-3242-4F7E-A28D-E5293475D7B7}">
      <dsp:nvSpPr>
        <dsp:cNvPr id="0" name=""/>
        <dsp:cNvSpPr/>
      </dsp:nvSpPr>
      <dsp:spPr>
        <a:xfrm>
          <a:off x="6091696" y="647"/>
          <a:ext cx="1774638" cy="1064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3.Which regions generate maximum revenue?</a:t>
          </a:r>
        </a:p>
      </dsp:txBody>
      <dsp:txXfrm>
        <a:off x="6091696" y="647"/>
        <a:ext cx="1774638" cy="1064782"/>
      </dsp:txXfrm>
    </dsp:sp>
    <dsp:sp modelId="{4E3E5314-A606-42CE-AA81-93718FE347D6}">
      <dsp:nvSpPr>
        <dsp:cNvPr id="0" name=""/>
        <dsp:cNvSpPr/>
      </dsp:nvSpPr>
      <dsp:spPr>
        <a:xfrm>
          <a:off x="8043798" y="647"/>
          <a:ext cx="1774638" cy="1064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4.Top 10 States by Sales</a:t>
          </a:r>
        </a:p>
      </dsp:txBody>
      <dsp:txXfrm>
        <a:off x="8043798" y="647"/>
        <a:ext cx="1774638" cy="1064782"/>
      </dsp:txXfrm>
    </dsp:sp>
    <dsp:sp modelId="{870C3C59-9150-426F-9D7A-82179AD5D5CB}">
      <dsp:nvSpPr>
        <dsp:cNvPr id="0" name=""/>
        <dsp:cNvSpPr/>
      </dsp:nvSpPr>
      <dsp:spPr>
        <a:xfrm>
          <a:off x="2187493" y="1242893"/>
          <a:ext cx="1774638" cy="1064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5.Which Customer Segment Generates Maximum Revenue?</a:t>
          </a:r>
        </a:p>
      </dsp:txBody>
      <dsp:txXfrm>
        <a:off x="2187493" y="1242893"/>
        <a:ext cx="1774638" cy="1064782"/>
      </dsp:txXfrm>
    </dsp:sp>
    <dsp:sp modelId="{091F83EF-81A3-4175-BAE3-4420B61A0CC2}">
      <dsp:nvSpPr>
        <dsp:cNvPr id="0" name=""/>
        <dsp:cNvSpPr/>
      </dsp:nvSpPr>
      <dsp:spPr>
        <a:xfrm>
          <a:off x="4139594" y="1242893"/>
          <a:ext cx="1774638" cy="1064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6.Top 10 Products by Sales</a:t>
          </a:r>
        </a:p>
      </dsp:txBody>
      <dsp:txXfrm>
        <a:off x="4139594" y="1242893"/>
        <a:ext cx="1774638" cy="1064782"/>
      </dsp:txXfrm>
    </dsp:sp>
    <dsp:sp modelId="{011A46A0-95FC-492A-ACA6-F518F30296B9}">
      <dsp:nvSpPr>
        <dsp:cNvPr id="0" name=""/>
        <dsp:cNvSpPr/>
      </dsp:nvSpPr>
      <dsp:spPr>
        <a:xfrm>
          <a:off x="6091696" y="1242893"/>
          <a:ext cx="1774638" cy="1064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7.Key Insight</a:t>
          </a:r>
        </a:p>
      </dsp:txBody>
      <dsp:txXfrm>
        <a:off x="6091696" y="1242893"/>
        <a:ext cx="1774638" cy="10647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5275D-68AC-442F-AEB4-4157199FB350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6179F-4852-4F30-BA8A-A9A7507D1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395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6179F-4852-4F30-BA8A-A9A7507D114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43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6179F-4852-4F30-BA8A-A9A7507D114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30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4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28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1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31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825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218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32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42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96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11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50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34D9C-0BAD-46B4-B5D0-31A7889088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9DFA5A-CB34-4D8F-A496-65ECD6736A2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57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1.jp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6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3.png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7.png"/><Relationship Id="rId5" Type="http://schemas.openxmlformats.org/officeDocument/2006/relationships/image" Target="../media/image1.jp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10.sv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53FA2-AB46-493A-6801-CD4625BB3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616" y="962902"/>
            <a:ext cx="4176384" cy="2380828"/>
          </a:xfrm>
        </p:spPr>
        <p:txBody>
          <a:bodyPr>
            <a:normAutofit/>
          </a:bodyPr>
          <a:lstStyle/>
          <a:p>
            <a:r>
              <a:rPr lang="en-IN" sz="4800" dirty="0"/>
              <a:t>SUPERSTORE DATA ANALYSIS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Bar chart">
            <a:extLst>
              <a:ext uri="{FF2B5EF4-FFF2-40B4-BE49-F238E27FC236}">
                <a16:creationId xmlns:a16="http://schemas.microsoft.com/office/drawing/2014/main" id="{AD49EBE6-CCC3-819D-00CC-BE25A7AA8E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4251" y="805583"/>
            <a:ext cx="4660762" cy="46607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1156612-9118-587E-752D-01180F18F09F}"/>
              </a:ext>
            </a:extLst>
          </p:cNvPr>
          <p:cNvSpPr txBox="1"/>
          <p:nvPr/>
        </p:nvSpPr>
        <p:spPr>
          <a:xfrm>
            <a:off x="2882364" y="3673414"/>
            <a:ext cx="610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Submitted By-SUJINOVEN.J</a:t>
            </a:r>
          </a:p>
        </p:txBody>
      </p:sp>
      <p:pic>
        <p:nvPicPr>
          <p:cNvPr id="30" name="Audio 29">
            <a:hlinkClick r:id="" action="ppaction://media"/>
            <a:extLst>
              <a:ext uri="{FF2B5EF4-FFF2-40B4-BE49-F238E27FC236}">
                <a16:creationId xmlns:a16="http://schemas.microsoft.com/office/drawing/2014/main" id="{9E636B8A-AE48-5E0E-B1CD-FE0E2DB551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32311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92"/>
    </mc:Choice>
    <mc:Fallback>
      <p:transition spd="slow" advTm="77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B67CCC-C126-2E89-7AAD-267AE0570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About Superstore Dataset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6586A-32BD-690F-3BF9-DE4F1B8C55B0}"/>
              </a:ext>
            </a:extLst>
          </p:cNvPr>
          <p:cNvSpPr txBox="1"/>
          <p:nvPr/>
        </p:nvSpPr>
        <p:spPr>
          <a:xfrm>
            <a:off x="838200" y="1579414"/>
            <a:ext cx="1051560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1500"/>
              </a:lnSpc>
              <a:spcAft>
                <a:spcPts val="600"/>
              </a:spcAft>
              <a:buNone/>
            </a:pPr>
            <a:r>
              <a:rPr lang="en-IN" b="1" i="0" dirty="0">
                <a:solidFill>
                  <a:srgbClr val="202124"/>
                </a:solidFill>
                <a:effectLst/>
                <a:latin typeface="Inter"/>
              </a:rPr>
              <a:t>Context</a:t>
            </a:r>
          </a:p>
          <a:p>
            <a:pPr algn="l" fontAlgn="base">
              <a:spcAft>
                <a:spcPts val="1200"/>
              </a:spcAft>
              <a:buNone/>
            </a:pPr>
            <a:r>
              <a:rPr lang="en-IN" b="0" i="0" dirty="0">
                <a:solidFill>
                  <a:srgbClr val="3C4043"/>
                </a:solidFill>
                <a:effectLst/>
                <a:latin typeface="Inter"/>
              </a:rPr>
              <a:t>With growing demands and cut-throat competitions in the market, a Superstore Giant is seeking your knowledge in understanding what works best for them. They would like to understand which products, regions, categories and customer segments they should target or avoid.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80A794-7821-DE29-A136-75931E812076}"/>
              </a:ext>
            </a:extLst>
          </p:cNvPr>
          <p:cNvSpPr txBox="1"/>
          <p:nvPr/>
        </p:nvSpPr>
        <p:spPr>
          <a:xfrm>
            <a:off x="836676" y="2891744"/>
            <a:ext cx="8958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Data Set URL:</a:t>
            </a:r>
          </a:p>
          <a:p>
            <a:r>
              <a:rPr lang="en-IN"/>
              <a:t>https://www.kaggle.com/datasets/vivek468/superstore-dataset-final</a:t>
            </a:r>
            <a:endParaRPr lang="en-IN" dirty="0"/>
          </a:p>
        </p:txBody>
      </p:sp>
      <p:graphicFrame>
        <p:nvGraphicFramePr>
          <p:cNvPr id="14" name="TextBox 9">
            <a:extLst>
              <a:ext uri="{FF2B5EF4-FFF2-40B4-BE49-F238E27FC236}">
                <a16:creationId xmlns:a16="http://schemas.microsoft.com/office/drawing/2014/main" id="{B4ACD87C-8E28-2242-92D7-09726F2CE1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2462172"/>
              </p:ext>
            </p:extLst>
          </p:nvPr>
        </p:nvGraphicFramePr>
        <p:xfrm>
          <a:off x="836676" y="3777467"/>
          <a:ext cx="10053828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13D95C30-7FA5-844C-7F97-04B6275D8D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66001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320"/>
    </mc:Choice>
    <mc:Fallback>
      <p:transition spd="slow" advTm="28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88CD792-FF32-841F-F411-9A3485A0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Which Category Generates the Highest Sales?</a:t>
            </a:r>
            <a:endParaRPr lang="en-IN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D3AB60-7794-4FB8-B222-B1936D13CA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73" y="1965781"/>
            <a:ext cx="5641027" cy="4087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DECE43-6C50-7767-D1C7-D922372380A1}"/>
              </a:ext>
            </a:extLst>
          </p:cNvPr>
          <p:cNvSpPr txBox="1"/>
          <p:nvPr/>
        </p:nvSpPr>
        <p:spPr>
          <a:xfrm>
            <a:off x="6544759" y="2137332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IN" b="0" i="0" dirty="0">
                <a:effectLst/>
                <a:latin typeface="menlo"/>
              </a:rPr>
              <a:t>Category</a:t>
            </a:r>
          </a:p>
          <a:p>
            <a:pPr algn="l" latinLnBrk="1">
              <a:buNone/>
            </a:pPr>
            <a:r>
              <a:rPr lang="en-IN" b="0" i="0" dirty="0">
                <a:effectLst/>
                <a:latin typeface="menlo"/>
              </a:rPr>
              <a:t>Technology         836154.03</a:t>
            </a:r>
          </a:p>
          <a:p>
            <a:pPr algn="l" latinLnBrk="1">
              <a:buNone/>
            </a:pPr>
            <a:r>
              <a:rPr lang="en-IN" b="0" i="0" dirty="0">
                <a:effectLst/>
                <a:latin typeface="menlo"/>
              </a:rPr>
              <a:t>Furniture             741999.80</a:t>
            </a:r>
          </a:p>
          <a:p>
            <a:pPr algn="l" latinLnBrk="1">
              <a:buNone/>
            </a:pPr>
            <a:r>
              <a:rPr lang="en-IN" b="0" i="0" dirty="0">
                <a:effectLst/>
                <a:latin typeface="menlo"/>
              </a:rPr>
              <a:t>Office Supplies    719047.03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40BA4-B7F5-4268-2039-B70886B114E4}"/>
              </a:ext>
            </a:extLst>
          </p:cNvPr>
          <p:cNvSpPr txBox="1"/>
          <p:nvPr/>
        </p:nvSpPr>
        <p:spPr>
          <a:xfrm>
            <a:off x="6400412" y="3826173"/>
            <a:ext cx="6140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Among all categories, Technology achieved the highest sales, Furniture ranked second, and Office Supplies ranked third.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3FD5D898-3681-56EC-82E2-7C824F94E4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37932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142"/>
    </mc:Choice>
    <mc:Fallback>
      <p:transition spd="slow" advTm="131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51CB0E9-9499-8FA6-8105-AD041F4D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700"/>
              <a:t>2. Which Category Generates the Highest Profit?</a:t>
            </a:r>
            <a:br>
              <a:rPr lang="en-US" sz="2700"/>
            </a:br>
            <a:endParaRPr lang="en-US" sz="27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444EDB-B5F4-43B9-A2CE-BB373B4B6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305" y="2015734"/>
            <a:ext cx="4662990" cy="3450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093DA9-FEBB-3337-29B5-740EAF285B12}"/>
              </a:ext>
            </a:extLst>
          </p:cNvPr>
          <p:cNvSpPr txBox="1"/>
          <p:nvPr/>
        </p:nvSpPr>
        <p:spPr>
          <a:xfrm>
            <a:off x="6892299" y="201573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The Technology category generated the highest profit, followed by Furniture, while Office Supplies contributed the least. This trend highlights that higher sales within a category are directly associated with higher profit.</a:t>
            </a:r>
          </a:p>
          <a:p>
            <a:pPr defTabSz="914400" fontAlgn="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endParaRPr lang="en-US" sz="1500" dirty="0"/>
          </a:p>
          <a:p>
            <a:pPr defTabSz="914400" fontAlgn="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500" b="1" dirty="0"/>
              <a:t>Insight</a:t>
            </a:r>
          </a:p>
          <a:p>
            <a:pPr defTabSz="914400" fontAlgn="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500" dirty="0"/>
              <a:t>Since </a:t>
            </a:r>
            <a:r>
              <a:rPr lang="en-US" sz="1500" b="1" dirty="0"/>
              <a:t>Technology</a:t>
            </a:r>
            <a:r>
              <a:rPr lang="en-US" sz="1500" dirty="0"/>
              <a:t> generates maximum profit:</a:t>
            </a:r>
          </a:p>
          <a:p>
            <a:pPr indent="-228600" defTabSz="914400" fontAlgn="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1. Increase marketing for Technology products.</a:t>
            </a:r>
          </a:p>
          <a:p>
            <a:pPr indent="-228600" defTabSz="914400" fontAlgn="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2. Expand inventory.</a:t>
            </a:r>
          </a:p>
          <a:p>
            <a:pPr indent="-228600" defTabSz="914400" fontAlgn="t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 dirty="0"/>
              <a:t>3.Launch premium product bundles.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6264AE7B-B289-5C00-DC52-A76BCAD504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21645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45"/>
    </mc:Choice>
    <mc:Fallback>
      <p:transition spd="slow" advTm="302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C98F73E-A261-9421-F9E0-915E95D46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3. Which Region Has the Highest Sales?</a:t>
            </a:r>
            <a:br>
              <a:rPr lang="en-US"/>
            </a:b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C08210-135F-434B-9B07-F3B4978C6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59130" y="2012810"/>
            <a:ext cx="4954206" cy="3453535"/>
            <a:chOff x="7807230" y="2012810"/>
            <a:chExt cx="3251252" cy="34598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67A18BA-FBAA-4972-B2EE-86107FA7F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776751E-B197-4182-95E7-62121266B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CCAB651-EC0E-20EA-D68C-7998F3FB3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813" y="2174242"/>
            <a:ext cx="4369723" cy="31243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1B0497-7EC2-9902-32AF-C160EC72F2A5}"/>
              </a:ext>
            </a:extLst>
          </p:cNvPr>
          <p:cNvSpPr txBox="1"/>
          <p:nvPr/>
        </p:nvSpPr>
        <p:spPr>
          <a:xfrm>
            <a:off x="6903337" y="2015734"/>
            <a:ext cx="415884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West region</a:t>
            </a:r>
            <a:r>
              <a:rPr lang="en-US" dirty="0"/>
              <a:t> achieved the highest sales, followed by the </a:t>
            </a:r>
            <a:r>
              <a:rPr lang="en-US" b="1" dirty="0"/>
              <a:t>East</a:t>
            </a:r>
            <a:r>
              <a:rPr lang="en-US" dirty="0"/>
              <a:t>, while the </a:t>
            </a:r>
            <a:r>
              <a:rPr lang="en-US" b="1" dirty="0"/>
              <a:t>Central</a:t>
            </a:r>
            <a:r>
              <a:rPr lang="en-US" dirty="0"/>
              <a:t> and </a:t>
            </a:r>
            <a:r>
              <a:rPr lang="en-US" b="1" dirty="0"/>
              <a:t>South</a:t>
            </a:r>
            <a:r>
              <a:rPr lang="en-US" dirty="0"/>
              <a:t> regions recorded comparatively lower figures. This </a:t>
            </a:r>
            <a:r>
              <a:rPr lang="en-US"/>
              <a:t>pattern highlights </a:t>
            </a:r>
            <a:r>
              <a:rPr lang="en-US" dirty="0"/>
              <a:t>the observation that </a:t>
            </a:r>
            <a:r>
              <a:rPr lang="en-US" b="1" dirty="0"/>
              <a:t>higher sales in a region are directly linked to higher profit generation</a:t>
            </a:r>
            <a:r>
              <a:rPr lang="en-US" dirty="0"/>
              <a:t>.</a:t>
            </a:r>
          </a:p>
        </p:txBody>
      </p: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45AEAE46-F2A8-DBC6-08BA-F980D69B74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95535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497"/>
    </mc:Choice>
    <mc:Fallback>
      <p:transition spd="slow" advTm="204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ADF1045-FC61-45F9-B214-2286C9675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742C14A9-3617-46DD-9FC4-ED828A7D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9AB0109-1C89-41F0-9EDF-3DE017BE3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7" y="1847088"/>
            <a:ext cx="55480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21A2EBB-2302-2B51-DD17-620C956C7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5550357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4. Top 10 States by Sales</a:t>
            </a:r>
            <a:br>
              <a:rPr lang="en-US"/>
            </a:br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E5CB6C-D5A1-44AB-BAD0-E76C67ED2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4C5EA9-0E22-9470-6568-19BA009ADC0B}"/>
              </a:ext>
            </a:extLst>
          </p:cNvPr>
          <p:cNvSpPr txBox="1"/>
          <p:nvPr/>
        </p:nvSpPr>
        <p:spPr>
          <a:xfrm>
            <a:off x="1451579" y="2015732"/>
            <a:ext cx="5550357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/>
              <a:t>California</a:t>
            </a:r>
            <a:r>
              <a:rPr lang="en-US" dirty="0"/>
              <a:t> recorded the highest sales, followed by </a:t>
            </a:r>
            <a:r>
              <a:rPr lang="en-US" b="1" dirty="0"/>
              <a:t>New York</a:t>
            </a:r>
            <a:r>
              <a:rPr lang="en-US" dirty="0"/>
              <a:t> and </a:t>
            </a:r>
            <a:r>
              <a:rPr lang="en-US" b="1" dirty="0"/>
              <a:t>Texas</a:t>
            </a:r>
            <a:r>
              <a:rPr lang="en-US" dirty="0"/>
              <a:t>, while states such as </a:t>
            </a:r>
            <a:r>
              <a:rPr lang="en-US" b="1" dirty="0"/>
              <a:t>Virginia</a:t>
            </a:r>
            <a:r>
              <a:rPr lang="en-US" dirty="0"/>
              <a:t>, </a:t>
            </a:r>
            <a:r>
              <a:rPr lang="en-US" b="1" dirty="0"/>
              <a:t>Michigan</a:t>
            </a:r>
            <a:r>
              <a:rPr lang="en-US" dirty="0"/>
              <a:t>, and </a:t>
            </a:r>
            <a:r>
              <a:rPr lang="en-US" b="1" dirty="0"/>
              <a:t>Ohio</a:t>
            </a:r>
            <a:r>
              <a:rPr lang="en-US" dirty="0"/>
              <a:t> contributed comparatively lower figures. This distribution underscores the principle that </a:t>
            </a:r>
            <a:r>
              <a:rPr lang="en-US" b="1" dirty="0"/>
              <a:t>higher sales in a state are directly associated with higher profit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4D8671-8286-B9AC-874B-560BCA290A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3594" y="774569"/>
            <a:ext cx="4074836" cy="190498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5A16967-5C32-4A48-9F02-4F0228AC8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42D078B-EF20-4DB1-AA1B-87F212C56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F95BF7-ECD6-354B-8455-2144B8669974}"/>
              </a:ext>
            </a:extLst>
          </p:cNvPr>
          <p:cNvSpPr txBox="1"/>
          <p:nvPr/>
        </p:nvSpPr>
        <p:spPr>
          <a:xfrm>
            <a:off x="6699932" y="4178446"/>
            <a:ext cx="61036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Insights:</a:t>
            </a:r>
          </a:p>
          <a:p>
            <a:r>
              <a:rPr lang="en-US" dirty="0"/>
              <a:t>Since California and New York are highly profitable:</a:t>
            </a:r>
          </a:p>
          <a:p>
            <a:r>
              <a:rPr lang="en-US" dirty="0"/>
              <a:t>1.Increase Advertising budget there</a:t>
            </a:r>
          </a:p>
          <a:p>
            <a:r>
              <a:rPr lang="en-US" dirty="0"/>
              <a:t>2. Open Additional Distribution Centers</a:t>
            </a:r>
          </a:p>
          <a:p>
            <a:r>
              <a:rPr lang="en-US" dirty="0"/>
              <a:t>3.Improve customer retention programs</a:t>
            </a:r>
            <a:endParaRPr lang="en-IN" dirty="0"/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63BE2901-B8EB-E29D-D087-3C53EB255D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16949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973"/>
    </mc:Choice>
    <mc:Fallback>
      <p:transition spd="slow" advTm="39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8D2FE65-29E2-785D-0599-39DF0E39E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5. Top 10 Products by Sales</a:t>
            </a:r>
            <a:br>
              <a:rPr lang="en-US"/>
            </a:br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C08210-135F-434B-9B07-F3B4978C6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59130" y="2012810"/>
            <a:ext cx="4954206" cy="3453535"/>
            <a:chOff x="7807230" y="2012810"/>
            <a:chExt cx="3251252" cy="345986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67A18BA-FBAA-4972-B2EE-86107FA7F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776751E-B197-4182-95E7-62121266B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04074B3-084B-9914-CF0F-F11FD3D3E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739" y="2946292"/>
            <a:ext cx="4613872" cy="1580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5AABCA-4778-DFB5-8002-F559CE35E8D3}"/>
              </a:ext>
            </a:extLst>
          </p:cNvPr>
          <p:cNvSpPr txBox="1"/>
          <p:nvPr/>
        </p:nvSpPr>
        <p:spPr>
          <a:xfrm>
            <a:off x="6903337" y="2015734"/>
            <a:ext cx="415884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The </a:t>
            </a:r>
            <a:r>
              <a:rPr lang="en-US" sz="1500" b="1"/>
              <a:t>Canon imageCLASS 2200 Advanced Copier</a:t>
            </a:r>
            <a:r>
              <a:rPr lang="en-US" sz="1500"/>
              <a:t> leads all products in sales, followed by the </a:t>
            </a:r>
            <a:r>
              <a:rPr lang="en-US" sz="1500" b="1"/>
              <a:t>Fellowes PB500 Electric Punch Plastic Comb Binding Machine</a:t>
            </a:r>
            <a:r>
              <a:rPr lang="en-US" sz="1500"/>
              <a:t> and the </a:t>
            </a:r>
            <a:r>
              <a:rPr lang="en-US" sz="1500" b="1"/>
              <a:t>Cisco TelePresence System EX90 Videoconferencing Unit</a:t>
            </a:r>
            <a:r>
              <a:rPr lang="en-US" sz="1500"/>
              <a:t>. Overall, the data reveals that </a:t>
            </a:r>
            <a:r>
              <a:rPr lang="en-US" sz="1500" b="1"/>
              <a:t>office equipment and technology‑related products dominate sales performance</a:t>
            </a:r>
            <a:r>
              <a:rPr lang="en-US" sz="1500"/>
              <a:t>, reinforcing the trend that </a:t>
            </a:r>
            <a:r>
              <a:rPr lang="en-US" sz="1500" b="1"/>
              <a:t>higher sales volumes correspond to higher profitability</a:t>
            </a:r>
            <a:r>
              <a:rPr lang="en-US" sz="1500"/>
              <a:t>.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68929A3D-CA2A-BACA-A1E4-238556956AB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1401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21"/>
    </mc:Choice>
    <mc:Fallback>
      <p:transition spd="slow" advTm="160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76840-2C95-E79B-409B-CF2E4FCA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6..Which Customer Segment Generates Maximum Revenue?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09AC6-07D1-3367-9696-CC22CCA34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69" y="2109084"/>
            <a:ext cx="4914951" cy="36950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C3D953-9330-7A6E-3DAA-380B4CEA0AD7}"/>
              </a:ext>
            </a:extLst>
          </p:cNvPr>
          <p:cNvSpPr txBox="1"/>
          <p:nvPr/>
        </p:nvSpPr>
        <p:spPr>
          <a:xfrm>
            <a:off x="5776944" y="2109084"/>
            <a:ext cx="6208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</a:t>
            </a:r>
            <a:r>
              <a:rPr lang="en-IN" b="1" dirty="0"/>
              <a:t>Consumer segment</a:t>
            </a:r>
            <a:r>
              <a:rPr lang="en-IN" dirty="0"/>
              <a:t> accounts for the largest share of sales at </a:t>
            </a:r>
            <a:r>
              <a:rPr lang="en-IN" b="1" dirty="0"/>
              <a:t>50.6%</a:t>
            </a:r>
            <a:r>
              <a:rPr lang="en-IN" dirty="0"/>
              <a:t>, followed by </a:t>
            </a:r>
            <a:r>
              <a:rPr lang="en-IN" b="1" dirty="0"/>
              <a:t>Corporate</a:t>
            </a:r>
            <a:r>
              <a:rPr lang="en-IN" dirty="0"/>
              <a:t> with </a:t>
            </a:r>
            <a:r>
              <a:rPr lang="en-IN" b="1" dirty="0"/>
              <a:t>30.7%</a:t>
            </a:r>
            <a:r>
              <a:rPr lang="en-IN" dirty="0"/>
              <a:t>, and </a:t>
            </a:r>
            <a:r>
              <a:rPr lang="en-IN" b="1" dirty="0"/>
              <a:t>Home Office</a:t>
            </a:r>
            <a:r>
              <a:rPr lang="en-IN" dirty="0"/>
              <a:t> with </a:t>
            </a:r>
            <a:r>
              <a:rPr lang="en-IN" b="1" dirty="0"/>
              <a:t>18.7%</a:t>
            </a:r>
            <a:r>
              <a:rPr lang="en-IN" dirty="0"/>
              <a:t>. This distribution reinforces the principle that </a:t>
            </a:r>
            <a:r>
              <a:rPr lang="en-IN" b="1" dirty="0"/>
              <a:t>higher sales in a segment are directly associated with higher profit generation</a:t>
            </a:r>
            <a:r>
              <a:rPr lang="en-IN" dirty="0"/>
              <a:t>.</a:t>
            </a:r>
          </a:p>
        </p:txBody>
      </p:sp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31E4AD12-63F3-4A59-8F30-9CD0D0D13B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142398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150"/>
    </mc:Choice>
    <mc:Fallback>
      <p:transition spd="slow" advTm="331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207011C-5FCD-C52F-C0F4-59CBBEA7A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KEY INSIGHTS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2C08210-135F-434B-9B07-F3B4978C6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459130" y="2012810"/>
            <a:ext cx="4954206" cy="3453535"/>
            <a:chOff x="7807230" y="2012810"/>
            <a:chExt cx="3251252" cy="345986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67A18BA-FBAA-4972-B2EE-86107FA7F0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776751E-B197-4182-95E7-62121266B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3" name="Graphic 32" descr="Bar Graph with Upward Trend">
            <a:extLst>
              <a:ext uri="{FF2B5EF4-FFF2-40B4-BE49-F238E27FC236}">
                <a16:creationId xmlns:a16="http://schemas.microsoft.com/office/drawing/2014/main" id="{4F6D4CB3-F840-0FA6-DBE2-FD625DCC7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80499" y="2174242"/>
            <a:ext cx="3124351" cy="31243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E1BE88-F7ED-C348-A9FE-843EB6871791}"/>
              </a:ext>
            </a:extLst>
          </p:cNvPr>
          <p:cNvSpPr txBox="1"/>
          <p:nvPr/>
        </p:nvSpPr>
        <p:spPr>
          <a:xfrm>
            <a:off x="6903337" y="2015734"/>
            <a:ext cx="4158849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 fontAlgn="t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Focus on profitable categories such as Technology.</a:t>
            </a:r>
          </a:p>
          <a:p>
            <a:pPr marL="285750" indent="-228600" defTabSz="914400" fontAlgn="t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Increase investment in profitable states such as California and New York.</a:t>
            </a:r>
          </a:p>
          <a:p>
            <a:pPr marL="285750" indent="-228600" defTabSz="914400" fontAlgn="t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Retain high-value customers through loyalty and reward programs.</a:t>
            </a:r>
          </a:p>
        </p:txBody>
      </p:sp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20A453D1-4031-D4AA-312E-CE4BCE1D88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05313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531"/>
    </mc:Choice>
    <mc:Fallback>
      <p:transition spd="slow" advTm="275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177</TotalTime>
  <Words>528</Words>
  <Application>Microsoft Office PowerPoint</Application>
  <PresentationFormat>Widescreen</PresentationFormat>
  <Paragraphs>48</Paragraphs>
  <Slides>9</Slides>
  <Notes>2</Notes>
  <HiddenSlides>0</HiddenSlides>
  <MMClips>9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Gill Sans MT</vt:lpstr>
      <vt:lpstr>Inter</vt:lpstr>
      <vt:lpstr>menlo</vt:lpstr>
      <vt:lpstr>Gallery</vt:lpstr>
      <vt:lpstr>SUPERSTORE DATA ANALYSIS</vt:lpstr>
      <vt:lpstr>About Superstore Dataset</vt:lpstr>
      <vt:lpstr>1. Which Category Generates the Highest Sales?</vt:lpstr>
      <vt:lpstr>2. Which Category Generates the Highest Profit? </vt:lpstr>
      <vt:lpstr>3. Which Region Has the Highest Sales? </vt:lpstr>
      <vt:lpstr>4. Top 10 States by Sales </vt:lpstr>
      <vt:lpstr>5. Top 10 Products by Sales </vt:lpstr>
      <vt:lpstr>6..Which Customer Segment Generates Maximum Revenue? 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Sujin Oven</dc:creator>
  <cp:lastModifiedBy>Sujin Oven</cp:lastModifiedBy>
  <cp:revision>6</cp:revision>
  <dcterms:created xsi:type="dcterms:W3CDTF">2026-07-02T04:53:09Z</dcterms:created>
  <dcterms:modified xsi:type="dcterms:W3CDTF">2026-07-02T16:52:15Z</dcterms:modified>
</cp:coreProperties>
</file>